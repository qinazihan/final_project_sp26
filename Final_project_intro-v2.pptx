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CHmJTcPwzrK4FUl0p/fGAe1/p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8bb679b4e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c8bb679b4e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c8bb679b4e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8bb679b4e_3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c8bb679b4e_3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c8bb679b4e_3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8bb679b4e_3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c8bb679b4e_3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c8bb679b4e_3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1" name="Google Shape;21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6"/>
            <p:cNvSpPr/>
            <p:nvPr/>
          </p:nvSpPr>
          <p:spPr>
            <a:xfrm rot="5400000">
              <a:off x="8738576" y="-516595"/>
              <a:ext cx="124244" cy="5864993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ogo Johns Hopkins&#10;Carey Business School" id="23" name="Google Shape;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82" y="5586646"/>
            <a:ext cx="3890031" cy="98481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/>
          <p:nvPr>
            <p:ph type="title"/>
          </p:nvPr>
        </p:nvSpPr>
        <p:spPr>
          <a:xfrm>
            <a:off x="5868202" y="2637492"/>
            <a:ext cx="5864994" cy="791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1">
  <p:cSld name="Section Break 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4" name="Google Shape;34;p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8"/>
            <p:cNvGrpSpPr/>
            <p:nvPr/>
          </p:nvGrpSpPr>
          <p:grpSpPr>
            <a:xfrm>
              <a:off x="1524" y="0"/>
              <a:ext cx="4453288" cy="6858000"/>
              <a:chOff x="1524" y="0"/>
              <a:chExt cx="4453288" cy="6858000"/>
            </a:xfrm>
          </p:grpSpPr>
          <p:pic>
            <p:nvPicPr>
              <p:cNvPr id="36" name="Google Shape;36;p8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524" y="0"/>
                <a:ext cx="4343400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" name="Google Shape;37;p8"/>
              <p:cNvSpPr/>
              <p:nvPr/>
            </p:nvSpPr>
            <p:spPr>
              <a:xfrm>
                <a:off x="4344924" y="0"/>
                <a:ext cx="109888" cy="6858000"/>
              </a:xfrm>
              <a:prstGeom prst="rect">
                <a:avLst/>
              </a:prstGeom>
              <a:solidFill>
                <a:srgbClr val="6DADE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8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evening view from outside the entrance of Johns Hopkins University&#10;Carey Business School the lights on the inside luminating people working and walk up stairs"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279" y="685799"/>
            <a:ext cx="594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2">
  <p:cSld name="Section Break 2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3" name="Google Shape;43;p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4" name="Google Shape;44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p9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n ethnically diverse group of 3 featuring a couple consulting with a professional and sharing laptop outside on a balcony overlooking boats in the harbor." id="48" name="Google Shape;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799"/>
            <a:ext cx="594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3">
  <p:cSld name="Section Break 3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1" name="Google Shape;51;p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2" name="Google Shape;52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10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3 smiling people at the harbor sharing a laptop at a picnic table " id="56" name="Google Shape;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800"/>
            <a:ext cx="594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4">
  <p:cSld name="Section Break 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9" name="Google Shape;59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0" name="Google Shape;60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" name="Google Shape;61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1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outside during daylight shot of Johns Hopkins Carey Busines school looking up at the tall neighborhood building in the background" id="63" name="Google Shape;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800"/>
            <a:ext cx="5943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5">
  <p:cSld name="Section Break 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7" name="Google Shape;67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8" name="Google Shape;68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" name="Google Shape;69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2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12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appy young female student siting inside Carey Business School Building at a laptop looking up" id="72" name="Google Shape;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800"/>
            <a:ext cx="594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6">
  <p:cSld name="Section Break 6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5" name="Google Shape;75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6" name="Google Shape;76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7" name="Google Shape;77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3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13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Carey Business School students in a study area happily looking over each others work with other student working in the background" id="80" name="Google Shape;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799"/>
            <a:ext cx="594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7">
  <p:cSld name="Section Break 7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3" name="Google Shape;83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4" name="Google Shape;84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5" name="Google Shape;85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4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4 students in horticultural lab greenhouse discussing a plants surrounded by rows of a variety of other plants"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800"/>
            <a:ext cx="5943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8">
  <p:cSld name="Section Break 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5"/>
          <p:cNvGrpSpPr/>
          <p:nvPr/>
        </p:nvGrpSpPr>
        <p:grpSpPr>
          <a:xfrm>
            <a:off x="-41594" y="-93518"/>
            <a:ext cx="12275188" cy="6951518"/>
            <a:chOff x="-41594" y="-46759"/>
            <a:chExt cx="12275188" cy="6951518"/>
          </a:xfrm>
        </p:grpSpPr>
        <p:sp>
          <p:nvSpPr>
            <p:cNvPr id="91" name="Google Shape;91;p15"/>
            <p:cNvSpPr/>
            <p:nvPr/>
          </p:nvSpPr>
          <p:spPr>
            <a:xfrm>
              <a:off x="-41594" y="-46759"/>
              <a:ext cx="12275188" cy="69515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2" name="Google Shape;92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28090" y="-46759"/>
              <a:ext cx="4402628" cy="6951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5"/>
            <p:cNvSpPr/>
            <p:nvPr/>
          </p:nvSpPr>
          <p:spPr>
            <a:xfrm>
              <a:off x="4344549" y="-46759"/>
              <a:ext cx="110638" cy="6951518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667623" y="6330049"/>
            <a:ext cx="2761918" cy="370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appy student sitting outside in a study area at a laptop smiling at a another student out of the camera frame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458" y="648393"/>
            <a:ext cx="6024648" cy="556121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>
            <p:ph type="ctrTitle"/>
          </p:nvPr>
        </p:nvSpPr>
        <p:spPr>
          <a:xfrm>
            <a:off x="7097399" y="648394"/>
            <a:ext cx="4624706" cy="5561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9">
  <p:cSld name="Section Break 9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9" name="Google Shape;99;p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" name="Google Shape;100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6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6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appy male and female student sharing a labtop and making notes in a study area with another couple in the background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279" y="685800"/>
            <a:ext cx="594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10">
  <p:cSld name="Section Break 10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7" name="Google Shape;107;p1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8" name="Google Shape;108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7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7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2 male students discussing a business average total cost graph on a white board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279" y="685799"/>
            <a:ext cx="594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11">
  <p:cSld name="Section Break 1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Google Shape;115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6" name="Google Shape;116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8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appy Johns Hopkins students male and female looking at a laptop with female student grasping a Johns Hopkins Carey Business school coffee mug"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800"/>
            <a:ext cx="5943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12">
  <p:cSld name="Section Break 12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3" name="Google Shape;123;p1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" y="0"/>
              <a:ext cx="4343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9"/>
            <p:cNvSpPr/>
            <p:nvPr/>
          </p:nvSpPr>
          <p:spPr>
            <a:xfrm>
              <a:off x="4344924" y="0"/>
              <a:ext cx="109888" cy="6858000"/>
            </a:xfrm>
            <a:prstGeom prst="rect">
              <a:avLst/>
            </a:prstGeom>
            <a:solidFill>
              <a:srgbClr val="6DAD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676982" y="63325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2 happy male students sitting in a study area discussing homework projects using paper and pen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2" y="685800"/>
            <a:ext cx="5943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type="ctrTitle"/>
          </p:nvPr>
        </p:nvSpPr>
        <p:spPr>
          <a:xfrm>
            <a:off x="7113070" y="685801"/>
            <a:ext cx="4593364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5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2D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Text Option 1">
  <p:cSld name="Bulleted Text Option 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Text Option 2">
  <p:cSld name="Bulleted Text Option 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609600" y="350838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609600" y="8382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2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5183188" y="2041071"/>
            <a:ext cx="6172200" cy="3819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>
            <p:ph idx="2" type="pic"/>
          </p:nvPr>
        </p:nvSpPr>
        <p:spPr>
          <a:xfrm>
            <a:off x="5183188" y="2041071"/>
            <a:ext cx="6172200" cy="3819979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793" y="9334287"/>
            <a:ext cx="2220596" cy="25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6193" y="9486687"/>
            <a:ext cx="2220596" cy="25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8" y="6068143"/>
            <a:ext cx="3407695" cy="3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9.xml"/><Relationship Id="rId22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8.xml"/><Relationship Id="rId21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23" Type="http://schemas.openxmlformats.org/officeDocument/2006/relationships/theme" Target="../theme/theme2.xml"/><Relationship Id="rId1" Type="http://schemas.openxmlformats.org/officeDocument/2006/relationships/image" Target="../media/image2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5"/>
          <p:cNvGrpSpPr/>
          <p:nvPr/>
        </p:nvGrpSpPr>
        <p:grpSpPr>
          <a:xfrm>
            <a:off x="-1" y="0"/>
            <a:ext cx="12192001" cy="1464416"/>
            <a:chOff x="-1" y="0"/>
            <a:chExt cx="12192001" cy="1464416"/>
          </a:xfrm>
        </p:grpSpPr>
        <p:pic>
          <p:nvPicPr>
            <p:cNvPr id="14" name="Google Shape;14;p5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1" y="0"/>
              <a:ext cx="12192000" cy="137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5"/>
            <p:cNvPicPr preferRelativeResize="0"/>
            <p:nvPr/>
          </p:nvPicPr>
          <p:blipFill rotWithShape="1">
            <a:blip r:embed="rId2">
              <a:alphaModFix amt="35000"/>
            </a:blip>
            <a:srcRect b="0" l="-1038" r="25762" t="0"/>
            <a:stretch/>
          </p:blipFill>
          <p:spPr>
            <a:xfrm>
              <a:off x="11237120" y="14361"/>
              <a:ext cx="954879" cy="1360770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ctr" dir="5400000" dist="50800">
                <a:srgbClr val="000000">
                  <a:alpha val="0"/>
                </a:srgbClr>
              </a:outerShdw>
              <a:reflection blurRad="0" dir="5400000" dist="50800" endA="0" endPos="65000" kx="0" rotWithShape="0" algn="bl" stPos="0" sy="-100000" ky="0"/>
            </a:effectLst>
          </p:spPr>
        </p:pic>
        <p:sp>
          <p:nvSpPr>
            <p:cNvPr id="16" name="Google Shape;16;p5"/>
            <p:cNvSpPr/>
            <p:nvPr/>
          </p:nvSpPr>
          <p:spPr>
            <a:xfrm>
              <a:off x="-1" y="1346088"/>
              <a:ext cx="12191999" cy="11832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" name="Google Shape;17;p5"/>
            <p:cNvPicPr preferRelativeResize="0"/>
            <p:nvPr/>
          </p:nvPicPr>
          <p:blipFill rotWithShape="1">
            <a:blip r:embed="rId2">
              <a:alphaModFix amt="35000"/>
            </a:blip>
            <a:srcRect b="0" l="-1038" r="25762" t="0"/>
            <a:stretch/>
          </p:blipFill>
          <p:spPr>
            <a:xfrm>
              <a:off x="11237121" y="12596"/>
              <a:ext cx="954879" cy="1360770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ctr" dir="5400000" dist="50800">
                <a:srgbClr val="000000">
                  <a:alpha val="0"/>
                </a:srgbClr>
              </a:outerShdw>
              <a:reflection blurRad="0" dir="5400000" dist="50800" endA="0" endPos="65000" kx="0" rotWithShape="0" algn="bl" stPos="0" sy="-100000" ky="0"/>
            </a:effectLst>
          </p:spPr>
        </p:pic>
        <p:pic>
          <p:nvPicPr>
            <p:cNvPr id="18" name="Google Shape;18;p5"/>
            <p:cNvPicPr preferRelativeResize="0"/>
            <p:nvPr/>
          </p:nvPicPr>
          <p:blipFill rotWithShape="1">
            <a:blip r:embed="rId2">
              <a:alphaModFix amt="35000"/>
            </a:blip>
            <a:srcRect b="0" l="-1038" r="25762" t="0"/>
            <a:stretch/>
          </p:blipFill>
          <p:spPr>
            <a:xfrm>
              <a:off x="11237121" y="12596"/>
              <a:ext cx="954879" cy="13607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jp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>
            <p:ph type="title"/>
          </p:nvPr>
        </p:nvSpPr>
        <p:spPr>
          <a:xfrm>
            <a:off x="3965607" y="2637492"/>
            <a:ext cx="7767589" cy="791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Final Project Intro</a:t>
            </a:r>
            <a:br>
              <a:rPr lang="en-US"/>
            </a:br>
            <a:br>
              <a:rPr lang="en-US"/>
            </a:b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AI Essentials for Business</a:t>
            </a:r>
            <a:br>
              <a:rPr b="1" lang="en-US" sz="2800"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Professor Gordon Gao, PhD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/>
              <a:t>How It Works</a:t>
            </a:r>
            <a:endParaRPr/>
          </a:p>
        </p:txBody>
      </p:sp>
      <p:sp>
        <p:nvSpPr>
          <p:cNvPr id="181" name="Google Shape;181;p2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2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4" name="Google Shape;184;p2"/>
          <p:cNvGrpSpPr/>
          <p:nvPr/>
        </p:nvGrpSpPr>
        <p:grpSpPr>
          <a:xfrm>
            <a:off x="784536" y="1664005"/>
            <a:ext cx="9896948" cy="4497740"/>
            <a:chOff x="640080" y="1325880"/>
            <a:chExt cx="7907437" cy="3593592"/>
          </a:xfrm>
        </p:grpSpPr>
        <p:sp>
          <p:nvSpPr>
            <p:cNvPr id="185" name="Google Shape;185;p2"/>
            <p:cNvSpPr/>
            <p:nvPr/>
          </p:nvSpPr>
          <p:spPr>
            <a:xfrm>
              <a:off x="640080" y="1325880"/>
              <a:ext cx="38406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You ask a question: 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640080" y="1623059"/>
              <a:ext cx="7104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Four AI agents with distinct cognitive roles collaborate on it — while you steer the conversation.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640080" y="2331720"/>
              <a:ext cx="3749100" cy="105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38100">
                <a:srgbClr val="000000">
                  <a:alpha val="12156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40080" y="2331720"/>
              <a:ext cx="54900" cy="105150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868680" y="2560320"/>
              <a:ext cx="685800" cy="685800"/>
            </a:xfrm>
            <a:prstGeom prst="ellipse">
              <a:avLst/>
            </a:prstGeom>
            <a:solidFill>
              <a:srgbClr val="F0FD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190" name="Google Shape;19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7552" y="2679192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"/>
            <p:cNvSpPr/>
            <p:nvPr/>
          </p:nvSpPr>
          <p:spPr>
            <a:xfrm>
              <a:off x="1737360" y="2514600"/>
              <a:ext cx="2286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Proposer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46504" y="2693259"/>
              <a:ext cx="26517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Generates creative ideas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and concrete plans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4754880" y="2331720"/>
              <a:ext cx="3749100" cy="105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38100">
                <a:srgbClr val="000000">
                  <a:alpha val="12156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4754880" y="2331720"/>
              <a:ext cx="54900" cy="10515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4983480" y="2560320"/>
              <a:ext cx="685800" cy="685800"/>
            </a:xfrm>
            <a:prstGeom prst="ellipse">
              <a:avLst/>
            </a:prstGeom>
            <a:solidFill>
              <a:srgbClr val="FFFB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196" name="Google Shape;19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02352" y="2679192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"/>
            <p:cNvSpPr/>
            <p:nvPr/>
          </p:nvSpPr>
          <p:spPr>
            <a:xfrm>
              <a:off x="5852160" y="2514600"/>
              <a:ext cx="2286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Critic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843017" y="2761537"/>
              <a:ext cx="2704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Challenges assumptions,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finds risks and blind spots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640080" y="3566160"/>
              <a:ext cx="54900" cy="10515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868680" y="3794760"/>
              <a:ext cx="685800" cy="685800"/>
            </a:xfrm>
            <a:prstGeom prst="ellipse">
              <a:avLst/>
            </a:prstGeom>
            <a:solidFill>
              <a:srgbClr val="F5F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01" name="Google Shape;20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7552" y="3913632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"/>
            <p:cNvSpPr/>
            <p:nvPr/>
          </p:nvSpPr>
          <p:spPr>
            <a:xfrm>
              <a:off x="1737360" y="3749040"/>
              <a:ext cx="2286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Researcher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728215" y="4048956"/>
              <a:ext cx="26610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Gathers facts and evidence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to ground the debate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754880" y="3566160"/>
              <a:ext cx="3749100" cy="105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38100">
                <a:srgbClr val="000000">
                  <a:alpha val="12156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4754880" y="3566160"/>
              <a:ext cx="54900" cy="105150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4983480" y="3794760"/>
              <a:ext cx="685800" cy="685800"/>
            </a:xfrm>
            <a:prstGeom prst="ellipse">
              <a:avLst/>
            </a:prstGeom>
            <a:solidFill>
              <a:srgbClr val="FDF2F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07" name="Google Shape;207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02352" y="3913632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"/>
            <p:cNvSpPr/>
            <p:nvPr/>
          </p:nvSpPr>
          <p:spPr>
            <a:xfrm>
              <a:off x="5852160" y="3749040"/>
              <a:ext cx="2286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Synthesizer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852159" y="4096512"/>
              <a:ext cx="26517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Integrates viewpoints into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 structured deliverable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10" name="Google Shape;210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8680" y="4663440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8bb679b4e_3_0"/>
          <p:cNvSpPr txBox="1"/>
          <p:nvPr>
            <p:ph type="title"/>
          </p:nvPr>
        </p:nvSpPr>
        <p:spPr>
          <a:xfrm>
            <a:off x="609600" y="398963"/>
            <a:ext cx="8229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Multi-Agent Collaboration System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217" name="Google Shape;217;g3c8bb679b4e_3_0"/>
          <p:cNvSpPr txBox="1"/>
          <p:nvPr>
            <p:ph idx="12" type="sldNum"/>
          </p:nvPr>
        </p:nvSpPr>
        <p:spPr>
          <a:xfrm>
            <a:off x="89154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8" name="Google Shape;218;g3c8bb679b4e_3_0" title="Screenshot 2026-02-17 at 14.22.32.png"/>
          <p:cNvPicPr preferRelativeResize="0"/>
          <p:nvPr/>
        </p:nvPicPr>
        <p:blipFill rotWithShape="1">
          <a:blip r:embed="rId3">
            <a:alphaModFix/>
          </a:blip>
          <a:srcRect b="0" l="0" r="0" t="8567"/>
          <a:stretch/>
        </p:blipFill>
        <p:spPr>
          <a:xfrm>
            <a:off x="1874475" y="1703250"/>
            <a:ext cx="8714076" cy="465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8bb679b4e_3_25"/>
          <p:cNvSpPr txBox="1"/>
          <p:nvPr>
            <p:ph type="title"/>
          </p:nvPr>
        </p:nvSpPr>
        <p:spPr>
          <a:xfrm>
            <a:off x="609600" y="398963"/>
            <a:ext cx="8229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Multi-Agent Collaboration System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225" name="Google Shape;225;g3c8bb679b4e_3_25"/>
          <p:cNvSpPr txBox="1"/>
          <p:nvPr>
            <p:ph idx="12" type="sldNum"/>
          </p:nvPr>
        </p:nvSpPr>
        <p:spPr>
          <a:xfrm>
            <a:off x="89154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6" name="Google Shape;226;g3c8bb679b4e_3_25" title="Screenshot 2026-02-17 at 14.23.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4600" y="1447388"/>
            <a:ext cx="8817290" cy="5088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8bb679b4e_3_31"/>
          <p:cNvSpPr txBox="1"/>
          <p:nvPr>
            <p:ph type="title"/>
          </p:nvPr>
        </p:nvSpPr>
        <p:spPr>
          <a:xfrm>
            <a:off x="609600" y="398963"/>
            <a:ext cx="8229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Multi-Agent Collaboration System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233" name="Google Shape;233;g3c8bb679b4e_3_31"/>
          <p:cNvSpPr txBox="1"/>
          <p:nvPr>
            <p:ph idx="12" type="sldNum"/>
          </p:nvPr>
        </p:nvSpPr>
        <p:spPr>
          <a:xfrm>
            <a:off x="89154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4" name="Google Shape;234;g3c8bb679b4e_3_31" title="Screenshot 2026-02-17 at 17.58.04.png"/>
          <p:cNvPicPr preferRelativeResize="0"/>
          <p:nvPr/>
        </p:nvPicPr>
        <p:blipFill rotWithShape="1">
          <a:blip r:embed="rId3">
            <a:alphaModFix/>
          </a:blip>
          <a:srcRect b="0" l="0" r="0" t="6120"/>
          <a:stretch/>
        </p:blipFill>
        <p:spPr>
          <a:xfrm>
            <a:off x="1118825" y="1691826"/>
            <a:ext cx="8229599" cy="49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/>
              <a:t>What to Observe</a:t>
            </a:r>
            <a:endParaRPr/>
          </a:p>
        </p:txBody>
      </p:sp>
      <p:sp>
        <p:nvSpPr>
          <p:cNvPr id="240" name="Google Shape;240;p3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3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3" name="Google Shape;243;p3"/>
          <p:cNvGrpSpPr/>
          <p:nvPr/>
        </p:nvGrpSpPr>
        <p:grpSpPr>
          <a:xfrm>
            <a:off x="628946" y="1744556"/>
            <a:ext cx="10934107" cy="3368887"/>
            <a:chOff x="457200" y="1371600"/>
            <a:chExt cx="8458200" cy="2606040"/>
          </a:xfrm>
        </p:grpSpPr>
        <p:sp>
          <p:nvSpPr>
            <p:cNvPr id="244" name="Google Shape;244;p3"/>
            <p:cNvSpPr/>
            <p:nvPr/>
          </p:nvSpPr>
          <p:spPr>
            <a:xfrm>
              <a:off x="457200" y="1371600"/>
              <a:ext cx="2697480" cy="54864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45" name="Google Shape;24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5800" y="1645920"/>
              <a:ext cx="411480" cy="4114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3"/>
            <p:cNvSpPr/>
            <p:nvPr/>
          </p:nvSpPr>
          <p:spPr>
            <a:xfrm>
              <a:off x="1188720" y="1600200"/>
              <a:ext cx="1691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Model Choice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685800" y="2423160"/>
              <a:ext cx="91440" cy="9144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868680" y="2331720"/>
              <a:ext cx="201168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How do different LLM choices (such as OpenAI, Claude and Gemini) change agent behavior?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685800" y="3291840"/>
              <a:ext cx="91440" cy="9144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868680" y="3200400"/>
              <a:ext cx="201168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Does the Critic push back harder with a stronger model?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3337560" y="1371600"/>
              <a:ext cx="2697480" cy="54864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52" name="Google Shape;25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6160" y="1645920"/>
              <a:ext cx="411480" cy="4114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3"/>
            <p:cNvSpPr/>
            <p:nvPr/>
          </p:nvSpPr>
          <p:spPr>
            <a:xfrm>
              <a:off x="4069080" y="1600200"/>
              <a:ext cx="17373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Agent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Dynamics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3566160" y="2423160"/>
              <a:ext cx="91440" cy="9144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749040" y="2331720"/>
              <a:ext cx="201168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Do agents build on each other's ideas, or just repeat themselves?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566160" y="3291840"/>
              <a:ext cx="91440" cy="9144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749040" y="3200400"/>
              <a:ext cx="201168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How does human intervention change direction?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217920" y="1371600"/>
              <a:ext cx="2697480" cy="54864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59" name="Google Shape;259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46520" y="1645920"/>
              <a:ext cx="411480" cy="4114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"/>
            <p:cNvSpPr/>
            <p:nvPr/>
          </p:nvSpPr>
          <p:spPr>
            <a:xfrm>
              <a:off x="6949440" y="1600200"/>
              <a:ext cx="17373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D7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n-US" sz="1800" u="none" cap="none" strike="noStrike">
                  <a:solidFill>
                    <a:srgbClr val="002D72"/>
                  </a:solidFill>
                  <a:latin typeface="Calibri"/>
                  <a:ea typeface="Calibri"/>
                  <a:cs typeface="Calibri"/>
                  <a:sym typeface="Calibri"/>
                </a:rPr>
                <a:t>Quality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6446520" y="2423160"/>
              <a:ext cx="91440" cy="91440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6629400" y="2331720"/>
              <a:ext cx="201168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Is the final plan better than what a single agent would produce?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6446520" y="3291840"/>
              <a:ext cx="91440" cy="91440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629400" y="3200400"/>
              <a:ext cx="201168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What questions benefit most from multi-agent collaboration?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71" name="Google Shape;271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DADE4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72" name="Google Shape;272;p4"/>
          <p:cNvSpPr txBox="1"/>
          <p:nvPr>
            <p:ph type="title"/>
          </p:nvPr>
        </p:nvSpPr>
        <p:spPr>
          <a:xfrm>
            <a:off x="609600" y="398963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3" name="Google Shape;273;p4"/>
          <p:cNvSpPr txBox="1"/>
          <p:nvPr>
            <p:ph idx="10" type="dt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4"/>
          <p:cNvSpPr txBox="1"/>
          <p:nvPr>
            <p:ph idx="12" type="sldNum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pple's Steve Jobs didn't want those Mac-vs.-PC commercials to be LOL funny  - MarketWatch" id="276" name="Google Shape;2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9111" y="1646238"/>
            <a:ext cx="7729924" cy="4351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0813" y="1403726"/>
            <a:ext cx="3360386" cy="4855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arey Brand Colors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002C71"/>
      </a:accent1>
      <a:accent2>
        <a:srgbClr val="00AB8E"/>
      </a:accent2>
      <a:accent3>
        <a:srgbClr val="86C8BC"/>
      </a:accent3>
      <a:accent4>
        <a:srgbClr val="D2D755"/>
      </a:accent4>
      <a:accent5>
        <a:srgbClr val="00866F"/>
      </a:accent5>
      <a:accent6>
        <a:srgbClr val="FF9E1B"/>
      </a:accent6>
      <a:hlink>
        <a:srgbClr val="69A9E3"/>
      </a:hlink>
      <a:folHlink>
        <a:srgbClr val="A359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2017-09-07T12:49:56Z</dcterms:created>
  <dc:creator>Matt Chullin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2571356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S8.2.2</vt:lpwstr>
  </property>
  <property fmtid="{D5CDD505-2E9C-101B-9397-08002B2CF9AE}" pid="5" name="ContentTypeId">
    <vt:lpwstr>0x0101001617F540E5BE21429B2C65E56133CB28</vt:lpwstr>
  </property>
  <property fmtid="{D5CDD505-2E9C-101B-9397-08002B2CF9AE}" pid="6" name="MediaServiceImageTags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